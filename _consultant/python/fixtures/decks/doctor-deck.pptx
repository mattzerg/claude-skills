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B3662F"/>
                </a:solidFill>
                <a:latin typeface="Space Mono"/>
              </a:rPr>
              <a:t>CONSULTANT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11514"/>
                </a:solidFill>
                <a:latin typeface="Space Grotesk"/>
              </a:rPr>
              <a:t>Test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52605C"/>
                </a:solidFill>
                <a:latin typeface="Space Grotesk"/>
              </a:rPr>
              <a:t>Doctor smoke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28016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800" b="1" i="0">
                <a:solidFill>
                  <a:srgbClr val="8A4A1F"/>
                </a:solidFill>
                <a:latin typeface="Space Mono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400" b="1" i="0">
                <a:solidFill>
                  <a:srgbClr val="111514"/>
                </a:solidFill>
                <a:latin typeface="Space Grotesk"/>
              </a:rPr>
              <a:t>Doctor finds three things to fix this week.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82880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366520"/>
            <a:ext cx="11091672" cy="12000"/>
          </a:xfrm>
          <a:prstGeom prst="rect">
            <a:avLst/>
          </a:prstGeom>
          <a:solidFill>
            <a:srgbClr val="DAD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l"/>
            <a:r>
              <a:rPr sz="800" b="0" i="0">
                <a:solidFill>
                  <a:srgbClr val="52605C"/>
                </a:solidFill>
                <a:latin typeface="Space Grotesk"/>
              </a:rPr>
              <a:t>doctor 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/>
            <a:r>
              <a:rPr sz="8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111514"/>
                </a:solidFill>
                <a:latin typeface="Space Grotesk"/>
              </a:rPr>
              <a:t>Doctor finds three things to fix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B3662F"/>
                </a:solidFill>
                <a:latin typeface="Space Grotesk"/>
              </a:rPr>
              <a:t>1.  </a:t>
            </a:r>
            <a:r>
              <a:rPr sz="1500" b="0" i="0">
                <a:solidFill>
                  <a:srgbClr val="111514"/>
                </a:solidFill>
                <a:latin typeface="Space Grotesk"/>
              </a:rPr>
              <a:t>First key claim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B3662F"/>
                </a:solidFill>
                <a:latin typeface="Space Grotesk"/>
              </a:rPr>
              <a:t>2.  </a:t>
            </a:r>
            <a:r>
              <a:rPr sz="1500" b="0" i="0">
                <a:solidFill>
                  <a:srgbClr val="111514"/>
                </a:solidFill>
                <a:latin typeface="Space Grotesk"/>
              </a:rPr>
              <a:t>Second key claim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B3662F"/>
                </a:solidFill>
                <a:latin typeface="Space Grotesk"/>
              </a:rPr>
              <a:t>3.  </a:t>
            </a:r>
            <a:r>
              <a:rPr sz="1500" b="0" i="0">
                <a:solidFill>
                  <a:srgbClr val="111514"/>
                </a:solidFill>
                <a:latin typeface="Space Grotesk"/>
              </a:rPr>
              <a:t>Third key claim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B3662F"/>
                </a:solidFill>
                <a:latin typeface="Space Mono"/>
              </a:rPr>
              <a:t>KEY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8328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11514"/>
                </a:solidFill>
                <a:latin typeface="Space Grotesk"/>
              </a:rPr>
              <a:t>Key 1 / 3 —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200400"/>
            <a:ext cx="128016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366520"/>
            <a:ext cx="11091672" cy="12000"/>
          </a:xfrm>
          <a:prstGeom prst="rect">
            <a:avLst/>
          </a:prstGeom>
          <a:solidFill>
            <a:srgbClr val="DAD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l"/>
            <a:r>
              <a:rPr sz="800" b="0" i="0">
                <a:solidFill>
                  <a:srgbClr val="52605C"/>
                </a:solidFill>
                <a:latin typeface="Space Grotesk"/>
              </a:rPr>
              <a:t>doctor 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/>
            <a:r>
              <a:rPr sz="8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800" b="1" i="0">
                <a:solidFill>
                  <a:srgbClr val="8A4A1F"/>
                </a:solidFill>
                <a:latin typeface="Space Mono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 i="0">
                <a:solidFill>
                  <a:srgbClr val="111514"/>
                </a:solidFill>
                <a:latin typeface="Space Grotesk"/>
              </a:rPr>
              <a:t>Bar chart rendering confirmed via doctor fixture.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82880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366520"/>
            <a:ext cx="11091672" cy="12000"/>
          </a:xfrm>
          <a:prstGeom prst="rect">
            <a:avLst/>
          </a:prstGeom>
          <a:solidFill>
            <a:srgbClr val="DAD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l"/>
            <a:r>
              <a:rPr sz="800" b="0" i="0">
                <a:solidFill>
                  <a:srgbClr val="52605C"/>
                </a:solidFill>
                <a:latin typeface="Space Grotesk"/>
              </a:rPr>
              <a:t>doctor 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/>
            <a:r>
              <a:rPr sz="8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4 / 10</a:t>
            </a:r>
          </a:p>
        </p:txBody>
      </p:sp>
      <p:pic>
        <p:nvPicPr>
          <p:cNvPr id="9" name="Picture 8" descr="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965960"/>
            <a:ext cx="914400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05C"/>
                </a:solidFill>
                <a:latin typeface="Space Grotesk"/>
              </a:rPr>
              <a:t>Doctor bar fixture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Source: Doctor 2026-05-29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800" b="1" i="0">
                <a:solidFill>
                  <a:srgbClr val="8A4A1F"/>
                </a:solidFill>
                <a:latin typeface="Space Mono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 i="0">
                <a:solidFill>
                  <a:srgbClr val="111514"/>
                </a:solidFill>
                <a:latin typeface="Space Grotesk"/>
              </a:rPr>
              <a:t>Two-column layout supports text + chart.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82880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366520"/>
            <a:ext cx="11091672" cy="12000"/>
          </a:xfrm>
          <a:prstGeom prst="rect">
            <a:avLst/>
          </a:prstGeom>
          <a:solidFill>
            <a:srgbClr val="DAD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l"/>
            <a:r>
              <a:rPr sz="800" b="0" i="0">
                <a:solidFill>
                  <a:srgbClr val="52605C"/>
                </a:solidFill>
                <a:latin typeface="Space Grotesk"/>
              </a:rPr>
              <a:t>doctor 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/>
            <a:r>
              <a:rPr sz="8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6821424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11514"/>
                </a:solidFill>
                <a:latin typeface="Space Grotesk"/>
              </a:rPr>
              <a:t>•  First bullet point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11514"/>
                </a:solidFill>
                <a:latin typeface="Space Grotesk"/>
              </a:rPr>
              <a:t>•  Second bullet point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11514"/>
                </a:solidFill>
                <a:latin typeface="Space Grotesk"/>
              </a:rPr>
              <a:t>•  Third bullet point</a:t>
            </a:r>
          </a:p>
        </p:txBody>
      </p:sp>
      <p:pic>
        <p:nvPicPr>
          <p:cNvPr id="10" name="Picture 9" descr="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965960"/>
            <a:ext cx="3657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800" b="1" i="0">
                <a:solidFill>
                  <a:srgbClr val="8A4A1F"/>
                </a:solidFill>
                <a:latin typeface="Space Mono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 i="0">
                <a:solidFill>
                  <a:srgbClr val="111514"/>
                </a:solidFill>
                <a:latin typeface="Space Grotesk"/>
              </a:rPr>
              <a:t>Three numbers anchor the engagement.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82880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366520"/>
            <a:ext cx="11091672" cy="12000"/>
          </a:xfrm>
          <a:prstGeom prst="rect">
            <a:avLst/>
          </a:prstGeom>
          <a:solidFill>
            <a:srgbClr val="DAD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l"/>
            <a:r>
              <a:rPr sz="800" b="0" i="0">
                <a:solidFill>
                  <a:srgbClr val="52605C"/>
                </a:solidFill>
                <a:latin typeface="Space Grotesk"/>
              </a:rPr>
              <a:t>doctor 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/>
            <a:r>
              <a:rPr sz="8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51434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B3662F"/>
                </a:solidFill>
                <a:latin typeface="Space Grotesk"/>
              </a:rPr>
              <a:t>$2.3M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3514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A4A1F"/>
                </a:solidFill>
                <a:latin typeface="Space Mono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35143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11514"/>
                </a:solidFill>
                <a:latin typeface="Space Grotesk"/>
              </a:rPr>
              <a:t>FY26 run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7304" y="2743200"/>
            <a:ext cx="351434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B3662F"/>
                </a:solidFill>
                <a:latin typeface="Space Grotesk"/>
              </a:rPr>
              <a:t>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7304" y="3931920"/>
            <a:ext cx="3514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A4A1F"/>
                </a:solidFill>
                <a:latin typeface="Space Mono"/>
              </a:rPr>
              <a:t>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7304" y="4297680"/>
            <a:ext cx="35143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11514"/>
                </a:solidFill>
                <a:latin typeface="Space Grotesk"/>
              </a:rPr>
              <a:t>Up 8pp YoY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5968" y="2743200"/>
            <a:ext cx="351434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B3662F"/>
                </a:solidFill>
                <a:latin typeface="Space Grotesk"/>
              </a:rPr>
              <a:t>1,240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5968" y="3931920"/>
            <a:ext cx="3514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A4A1F"/>
                </a:solidFill>
                <a:latin typeface="Space Mono"/>
              </a:rPr>
              <a:t>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5968" y="4297680"/>
            <a:ext cx="35143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11514"/>
                </a:solidFill>
                <a:latin typeface="Space Grotesk"/>
              </a:rPr>
              <a:t>Weekly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800" b="1" i="0">
                <a:solidFill>
                  <a:srgbClr val="8A4A1F"/>
                </a:solidFill>
                <a:latin typeface="Space Mono"/>
              </a:rPr>
              <a:t>VOICE OF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 i="0">
                <a:solidFill>
                  <a:srgbClr val="111514"/>
                </a:solidFill>
                <a:latin typeface="Space Grotesk"/>
              </a:rPr>
              <a:t>Customer voice supports the strategic direction.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82880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366520"/>
            <a:ext cx="11091672" cy="12000"/>
          </a:xfrm>
          <a:prstGeom prst="rect">
            <a:avLst/>
          </a:prstGeom>
          <a:solidFill>
            <a:srgbClr val="DAD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l"/>
            <a:r>
              <a:rPr sz="800" b="0" i="0">
                <a:solidFill>
                  <a:srgbClr val="52605C"/>
                </a:solidFill>
                <a:latin typeface="Space Grotesk"/>
              </a:rPr>
              <a:t>doctor 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/>
            <a:r>
              <a:rPr sz="8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731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 i="0">
                <a:solidFill>
                  <a:srgbClr val="B3662F"/>
                </a:solidFill>
                <a:latin typeface="Space Grotesk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48840"/>
            <a:ext cx="1045159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1">
                <a:solidFill>
                  <a:srgbClr val="111514"/>
                </a:solidFill>
                <a:latin typeface="Space Grotesk"/>
              </a:rPr>
              <a:t>This was the right 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669280"/>
            <a:ext cx="10451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2605C"/>
                </a:solidFill>
                <a:latin typeface="Space Grotesk"/>
              </a:rPr>
              <a:t>— Test Customer, VP of 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800" b="1" i="0">
                <a:solidFill>
                  <a:srgbClr val="8A4A1F"/>
                </a:solidFill>
                <a:latin typeface="Space Mono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 i="0">
                <a:solidFill>
                  <a:srgbClr val="111514"/>
                </a:solidFill>
                <a:latin typeface="Space Grotesk"/>
              </a:rPr>
              <a:t>Pricing matrix maps to segment willingness-to-pay.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82880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366520"/>
            <a:ext cx="11091672" cy="12000"/>
          </a:xfrm>
          <a:prstGeom prst="rect">
            <a:avLst/>
          </a:prstGeom>
          <a:solidFill>
            <a:srgbClr val="DAD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l"/>
            <a:r>
              <a:rPr sz="800" b="0" i="0">
                <a:solidFill>
                  <a:srgbClr val="52605C"/>
                </a:solidFill>
                <a:latin typeface="Space Grotesk"/>
              </a:rPr>
              <a:t>doctor 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/>
            <a:r>
              <a:rPr sz="8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8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447.5" y="19659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4F0E7"/>
                          </a:solidFill>
                          <a:latin typeface="Space Grotesk"/>
                        </a:rPr>
                        <a:t>Tier</a:t>
                      </a:r>
                    </a:p>
                  </a:txBody>
                  <a:tcPr>
                    <a:solidFill>
                      <a:srgbClr val="B36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4F0E7"/>
                          </a:solidFill>
                          <a:latin typeface="Space Grotesk"/>
                        </a:rPr>
                        <a:t>Price</a:t>
                      </a:r>
                    </a:p>
                  </a:txBody>
                  <a:tcPr>
                    <a:solidFill>
                      <a:srgbClr val="B36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4F0E7"/>
                          </a:solidFill>
                          <a:latin typeface="Space Grotesk"/>
                        </a:rPr>
                        <a:t>Features</a:t>
                      </a:r>
                    </a:p>
                  </a:txBody>
                  <a:tcPr>
                    <a:solidFill>
                      <a:srgbClr val="B366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514"/>
                          </a:solidFill>
                          <a:latin typeface="Space Grotesk"/>
                        </a:rPr>
                        <a:t>Basic</a:t>
                      </a:r>
                    </a:p>
                  </a:txBody>
                  <a:tcPr>
                    <a:solidFill>
                      <a:srgbClr val="F4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514"/>
                          </a:solidFill>
                          <a:latin typeface="Space Grotesk"/>
                        </a:rPr>
                        <a:t>$9</a:t>
                      </a:r>
                    </a:p>
                  </a:txBody>
                  <a:tcPr>
                    <a:solidFill>
                      <a:srgbClr val="F4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514"/>
                          </a:solidFill>
                          <a:latin typeface="Space Grotesk"/>
                        </a:rPr>
                        <a:t>3</a:t>
                      </a:r>
                    </a:p>
                  </a:txBody>
                  <a:tcPr>
                    <a:solidFill>
                      <a:srgbClr val="F4F0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514"/>
                          </a:solidFill>
                          <a:latin typeface="Space Grotesk"/>
                        </a:rPr>
                        <a:t>Pro</a:t>
                      </a:r>
                    </a:p>
                  </a:txBody>
                  <a:tcPr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514"/>
                          </a:solidFill>
                          <a:latin typeface="Space Grotesk"/>
                        </a:rPr>
                        <a:t>$19</a:t>
                      </a:r>
                    </a:p>
                  </a:txBody>
                  <a:tcPr>
                    <a:solidFill>
                      <a:srgbClr val="DAD6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514"/>
                          </a:solidFill>
                          <a:latin typeface="Space Grotesk"/>
                        </a:rPr>
                        <a:t>12</a:t>
                      </a:r>
                    </a:p>
                  </a:txBody>
                  <a:tcPr>
                    <a:solidFill>
                      <a:srgbClr val="DAD6C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514"/>
                          </a:solidFill>
                          <a:latin typeface="Space Grotesk"/>
                        </a:rPr>
                        <a:t>Bundle</a:t>
                      </a:r>
                    </a:p>
                  </a:txBody>
                  <a:tcPr>
                    <a:solidFill>
                      <a:srgbClr val="F4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514"/>
                          </a:solidFill>
                          <a:latin typeface="Space Grotesk"/>
                        </a:rPr>
                        <a:t>$39</a:t>
                      </a:r>
                    </a:p>
                  </a:txBody>
                  <a:tcPr>
                    <a:solidFill>
                      <a:srgbClr val="F4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11514"/>
                          </a:solidFill>
                          <a:latin typeface="Space Grotesk"/>
                        </a:rPr>
                        <a:t>25</a:t>
                      </a:r>
                    </a:p>
                  </a:txBody>
                  <a:tcPr>
                    <a:solidFill>
                      <a:srgbClr val="F4F0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800" b="1" i="0">
                <a:solidFill>
                  <a:srgbClr val="8A4A1F"/>
                </a:solidFill>
                <a:latin typeface="Space Mono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 i="0">
                <a:solidFill>
                  <a:srgbClr val="111514"/>
                </a:solidFill>
                <a:latin typeface="Space Grotesk"/>
              </a:rPr>
              <a:t>Recommendation: build Self-Serve docs in Q3.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82880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366520"/>
            <a:ext cx="11091672" cy="12000"/>
          </a:xfrm>
          <a:prstGeom prst="rect">
            <a:avLst/>
          </a:prstGeom>
          <a:solidFill>
            <a:srgbClr val="DAD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l"/>
            <a:r>
              <a:rPr sz="800" b="0" i="0">
                <a:solidFill>
                  <a:srgbClr val="52605C"/>
                </a:solidFill>
                <a:latin typeface="Space Grotesk"/>
              </a:rPr>
              <a:t>doctor 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/>
            <a:r>
              <a:rPr sz="8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B3662F"/>
                </a:solidFill>
                <a:latin typeface="Space Grotesk"/>
              </a:rPr>
              <a:t>Build self-serve docs in Q3.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A4A1F"/>
                </a:solidFill>
                <a:latin typeface="Space Mono"/>
              </a:rPr>
              <a:t>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11514"/>
                </a:solidFill>
                <a:latin typeface="Space Grotesk"/>
              </a:rPr>
              <a:t>•  First risk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11514"/>
                </a:solidFill>
                <a:latin typeface="Space Grotesk"/>
              </a:rPr>
              <a:t>•  Second risk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11514"/>
                </a:solidFill>
                <a:latin typeface="Space Grotesk"/>
              </a:rPr>
              <a:t>•  Third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31089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A4A1F"/>
                </a:solidFill>
                <a:latin typeface="Space Mono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33832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111514"/>
                </a:solidFill>
                <a:latin typeface="Space Grotesk"/>
              </a:rPr>
              <a:t>1.  First step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11514"/>
                </a:solidFill>
                <a:latin typeface="Space Grotesk"/>
              </a:rPr>
              <a:t>2.  Second step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11514"/>
                </a:solidFill>
                <a:latin typeface="Space Grotesk"/>
              </a:rPr>
              <a:t>3.  Third step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800" b="1" i="0">
                <a:solidFill>
                  <a:srgbClr val="8A4A1F"/>
                </a:solidFill>
                <a:latin typeface="Space Mono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 i="0">
                <a:solidFill>
                  <a:srgbClr val="111514"/>
                </a:solidFill>
                <a:latin typeface="Space Grotesk"/>
              </a:rPr>
              <a:t>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828800" cy="36000"/>
          </a:xfrm>
          <a:prstGeom prst="rect">
            <a:avLst/>
          </a:prstGeom>
          <a:solidFill>
            <a:srgbClr val="B36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366520"/>
            <a:ext cx="11091672" cy="12000"/>
          </a:xfrm>
          <a:prstGeom prst="rect">
            <a:avLst/>
          </a:prstGeom>
          <a:solidFill>
            <a:srgbClr val="DAD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l"/>
            <a:r>
              <a:rPr sz="800" b="0" i="0">
                <a:solidFill>
                  <a:srgbClr val="52605C"/>
                </a:solidFill>
                <a:latin typeface="Space Grotesk"/>
              </a:rPr>
              <a:t>doctor fixture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/>
            <a:r>
              <a:rPr sz="800" b="0" i="0">
                <a:solidFill>
                  <a:srgbClr val="52605C"/>
                </a:solidFill>
                <a:latin typeface="Space Grotesk"/>
              </a:rPr>
              <a:t>2026-05-29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6446520"/>
            <a:ext cx="3694176" cy="320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r"/>
            <a:r>
              <a:rPr sz="800" b="0" i="0">
                <a:solidFill>
                  <a:srgbClr val="52605C"/>
                </a:solidFill>
                <a:latin typeface="Space Grotesk"/>
              </a:rPr>
              <a:t>10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1091672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111514"/>
                </a:solidFill>
                <a:latin typeface="Space Grotesk"/>
              </a:rPr>
              <a:t>[1] Test claim 1 — Test Source A (https://a)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111514"/>
                </a:solidFill>
                <a:latin typeface="Space Grotesk"/>
              </a:rPr>
              <a:t>[2] Test claim 2 — Test Source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